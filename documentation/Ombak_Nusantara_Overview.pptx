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77c763489443b7" /><Relationship Type="http://schemas.openxmlformats.org/officeDocument/2006/relationships/extended-properties" Target="/docProps/app.xml" Id="R8271c2b19b634e6e" /><Relationship Type="http://schemas.openxmlformats.org/officeDocument/2006/relationships/officeDocument" Target="/ppt/presentation.xml" Id="R0fcd0987ce504b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53fff393545f4"/>
  </p:sldMasterIdLst>
  <p:notesMasterIdLst>
    <p:notesMasterId xmlns:r="http://schemas.openxmlformats.org/officeDocument/2006/relationships" r:id="Rabe3053a8ab940ae"/>
  </p:notesMasterIdLst>
  <p:sldIdLst>
    <p:sldId xmlns:r="http://schemas.openxmlformats.org/officeDocument/2006/relationships" id="256" r:id="R33282ab2cb304f17"/>
    <p:sldId xmlns:r="http://schemas.openxmlformats.org/officeDocument/2006/relationships" id="257" r:id="R9cd28f3da58443a1"/>
    <p:sldId xmlns:r="http://schemas.openxmlformats.org/officeDocument/2006/relationships" id="258" r:id="Rf476240f40574a8c"/>
    <p:sldId xmlns:r="http://schemas.openxmlformats.org/officeDocument/2006/relationships" id="259" r:id="R8278affb912746dd"/>
    <p:sldId xmlns:r="http://schemas.openxmlformats.org/officeDocument/2006/relationships" id="260" r:id="R96843a6c1a4940f5"/>
    <p:sldId xmlns:r="http://schemas.openxmlformats.org/officeDocument/2006/relationships" id="261" r:id="R3cf1b468f22a4f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80989752734fe1" /><Relationship Type="http://schemas.openxmlformats.org/officeDocument/2006/relationships/slideMaster" Target="/ppt/slideMasters/slideMaster1.xml" Id="Rf7753fff393545f4" /><Relationship Type="http://schemas.openxmlformats.org/officeDocument/2006/relationships/notesMaster" Target="/ppt/notesMasters/notesMaster1.xml" Id="Rabe3053a8ab940ae" /><Relationship Type="http://schemas.openxmlformats.org/officeDocument/2006/relationships/presProps" Target="/ppt/presProps.xml" Id="R28c81183d9ec4162" /><Relationship Type="http://schemas.openxmlformats.org/officeDocument/2006/relationships/tableStyles" Target="/ppt/tableStyles.xml" Id="Rec75f7541eb84642" /><Relationship Type="http://schemas.openxmlformats.org/officeDocument/2006/relationships/slide" Target="/ppt/slides/slide1.xml" Id="R33282ab2cb304f17" /><Relationship Type="http://schemas.openxmlformats.org/officeDocument/2006/relationships/slide" Target="/ppt/slides/slide2.xml" Id="R9cd28f3da58443a1" /><Relationship Type="http://schemas.openxmlformats.org/officeDocument/2006/relationships/slide" Target="/ppt/slides/slide3.xml" Id="Rf476240f40574a8c" /><Relationship Type="http://schemas.openxmlformats.org/officeDocument/2006/relationships/slide" Target="/ppt/slides/slide4.xml" Id="R8278affb912746dd" /><Relationship Type="http://schemas.openxmlformats.org/officeDocument/2006/relationships/slide" Target="/ppt/slides/slide5.xml" Id="R96843a6c1a4940f5" /><Relationship Type="http://schemas.openxmlformats.org/officeDocument/2006/relationships/slide" Target="/ppt/slides/slide6.xml" Id="R3cf1b468f22a4f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614c8683da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c3a751bbd8466b" /><Relationship Type="http://schemas.openxmlformats.org/officeDocument/2006/relationships/notesMaster" Target="/ppt/notesMasters/notesMaster1.xml" Id="R3ad7181830f944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8a6e1d763e4ff2" /><Relationship Type="http://schemas.openxmlformats.org/officeDocument/2006/relationships/notesMaster" Target="/ppt/notesMasters/notesMaster1.xml" Id="R6623fa7e33454b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cc975d775f41c1" /><Relationship Type="http://schemas.openxmlformats.org/officeDocument/2006/relationships/notesMaster" Target="/ppt/notesMasters/notesMaster1.xml" Id="R1b75b26f2a2949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8f311d063442dd" /><Relationship Type="http://schemas.openxmlformats.org/officeDocument/2006/relationships/notesMaster" Target="/ppt/notesMasters/notesMaster1.xml" Id="R048a7bf446ca48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89c0b9265c4534" /><Relationship Type="http://schemas.openxmlformats.org/officeDocument/2006/relationships/notesMaster" Target="/ppt/notesMasters/notesMaster1.xml" Id="R612f3575388f40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f22e8e6ff64bcb" /><Relationship Type="http://schemas.openxmlformats.org/officeDocument/2006/relationships/notesMaster" Target="/ppt/notesMasters/notesMaster1.xml" Id="R1c0ceb39e6c84c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image asset: backend/uploads/268aadfce7f94387a3234f560e4e257c.webp (workspace-provided).</a:t>
            </a:r>
          </a:p>
          <a:p xmlns:a="http://schemas.openxmlformats.org/drawingml/2006/main">
            <a:r>
              <a:t>Product statements based on workspace application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framing based on workspace application source: frontend/src/Dashboard.svelte, frontend/src/SurfMap.svelte, and frontend/src/Hazard.svelte.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Feature inventory based on workspace application source: frontend/src/App.svelte, frontend/src/SurfMap.svelte, frontend/src/SurfPlanner.svelte, and frontend/src/Hazard.svelte.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Workflow based on workspace application source: frontend/src/Surfing.svelte, frontend/src/SurfMap.svelte, and frontend/src/SurfPlanner.svelte.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outcome statement based on workspace application source and intended product positioning.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Technology stack based on workspace source: README.md, frontend/package.json, backend/app/modules/surf/agents.py, backend/app/modules/mcp/server.py, and backend/app/modules/knowledge/vectordb.py.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52cd7dabe4f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a34f3cc4754246" /><Relationship Type="http://schemas.openxmlformats.org/officeDocument/2006/relationships/slideLayout" Target="/ppt/slideLayouts/slideLayout1.xml" Id="R912d2f476da345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2d2f476da345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4da413d3c453f" /><Relationship Type="http://schemas.openxmlformats.org/officeDocument/2006/relationships/image" Target="/ppt/media/image.bin" Id="Ra9ead1654e6441d2" /><Relationship Type="http://schemas.openxmlformats.org/officeDocument/2006/relationships/notesSlide" Target="/ppt/notesSlides/notesSlide1.xml" Id="R29dd8d49a50640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418e0709748ed" /><Relationship Type="http://schemas.openxmlformats.org/officeDocument/2006/relationships/notesSlide" Target="/ppt/notesSlides/notesSlide2.xml" Id="R9c278a07e94140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ce1607d0a4e81" /><Relationship Type="http://schemas.openxmlformats.org/officeDocument/2006/relationships/notesSlide" Target="/ppt/notesSlides/notesSlide3.xml" Id="R9a33e69f399443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adc5f80404a7e" /><Relationship Type="http://schemas.openxmlformats.org/officeDocument/2006/relationships/notesSlide" Target="/ppt/notesSlides/notesSlide4.xml" Id="R5cac958066804d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f733e97cf4b8b" /><Relationship Type="http://schemas.openxmlformats.org/officeDocument/2006/relationships/notesSlide" Target="/ppt/notesSlides/notesSlide5.xml" Id="Rc467b8a2cc9c41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7e518f180494a" /><Relationship Type="http://schemas.openxmlformats.org/officeDocument/2006/relationships/notesSlide" Target="/ppt/notesSlides/notesSlide6.xml" Id="Rcaa5ffd0ca5749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C29D64E-A50E-43BC-93FB-DC0C6A91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C8"/>
                </a:solidFill>
              </a:defRPr>
            </a:pPr>
            <a:r>
              <a:rPr sz="1200" b="1">
                <a:solidFill>
                  <a:srgbClr val="00A6C8"/>
                </a:solidFill>
              </a:rPr>
              <a:t>APLIKASI PENDAMPING SURFER INDONESIA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FF7470F-1504-4393-BB4E-9AA2AAB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F2922"/>
                </a:solidFill>
              </a:defRPr>
            </a:pPr>
            <a:r>
              <a:rPr sz="5250" b="1">
                <a:solidFill>
                  <a:srgbClr val="0F2922"/>
                </a:solidFill>
              </a:rPr>
              <a:t>Ombak</a:t>
            </a:r>
          </a:p>
          <a:p xmlns:a="http://schemas.openxmlformats.org/drawingml/2006/main">
            <a:pPr algn="l">
              <a:defRPr sz="5250" b="1">
                <a:solidFill>
                  <a:srgbClr val="0F2922"/>
                </a:solidFill>
              </a:defRPr>
            </a:pPr>
            <a:r>
              <a:rPr sz="5250" b="1">
                <a:solidFill>
                  <a:srgbClr val="0F2922"/>
                </a:solidFill>
              </a:rPr>
              <a:t>Nusantara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CE7E7E9D-77CB-4CA6-8AA7-CA18CFCC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7426970-3105-4DD2-9973-DEC7526C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17068"/>
                </a:solidFill>
              </a:defRPr>
            </a:pPr>
            <a:r>
              <a:rPr sz="2025">
                <a:solidFill>
                  <a:srgbClr val="517068"/>
                </a:solidFill>
              </a:rPr>
              <a:t>Temukan spot, pahami kondisi,</a:t>
            </a:r>
          </a:p>
          <a:p xmlns:a="http://schemas.openxmlformats.org/drawingml/2006/main">
            <a:pPr algn="l">
              <a:defRPr sz="2025">
                <a:solidFill>
                  <a:srgbClr val="517068"/>
                </a:solidFill>
              </a:defRPr>
            </a:pPr>
            <a:r>
              <a:rPr sz="2025">
                <a:solidFill>
                  <a:srgbClr val="517068"/>
                </a:solidFill>
              </a:rPr>
              <a:t>dan rencanakan sesi dengan lebih percaya diri.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ad1654e6441d2"/>
          <a:srcRect xmlns:a="http://schemas.openxmlformats.org/drawingml/2006/main" l="17007" t="0" r="170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09FD0E5E-FCAE-4C32-B21E-82C08187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17068"/>
                </a:solidFill>
              </a:defRPr>
            </a:pPr>
            <a:r>
              <a:rPr sz="975">
                <a:solidFill>
                  <a:srgbClr val="517068"/>
                </a:solidFill>
              </a:rPr>
              <a:t>Ombak Nusantara  /  01</a:t>
            </a:r>
          </a:p>
        </p:txBody>
      </p:sp>
    </p:spTree>
    <p:extLst>
      <p:ext uri="{BB962C8B-B14F-4D97-AF65-F5344CB8AC3E}">
        <p14:creationId xmlns:p14="http://schemas.microsoft.com/office/powerpoint/2010/main" val="1858076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why-title">
            <a:extLst xmlns:a="http://schemas.openxmlformats.org/drawingml/2006/main">
              <a:ext uri="{FF2B5EF4-FFF2-40B4-BE49-F238E27FC236}">
                <a16:creationId xmlns:a16="http://schemas.microsoft.com/office/drawing/2014/main" id="{0ED88EA5-9F10-415B-A9E8-007B536D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922"/>
                </a:solidFill>
              </a:defRPr>
            </a:pPr>
            <a:r>
              <a:rPr sz="3600" b="1">
                <a:solidFill>
                  <a:srgbClr val="0F2922"/>
                </a:solidFill>
              </a:rPr>
              <a:t>Mengapa aplikasi ini dibuat</a:t>
            </a:r>
          </a:p>
        </p:txBody>
      </p:sp>
      <p:sp>
        <p:nvSpPr>
          <p:cNvPr id="2" name="why-lead">
            <a:extLst xmlns:a="http://schemas.openxmlformats.org/drawingml/2006/main">
              <a:ext uri="{FF2B5EF4-FFF2-40B4-BE49-F238E27FC236}">
                <a16:creationId xmlns:a16="http://schemas.microsoft.com/office/drawing/2014/main" id="{AA092BBB-C498-41D2-8332-1083F32B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476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0F2922"/>
                </a:solidFill>
              </a:defRPr>
            </a:pPr>
            <a:r>
              <a:rPr sz="2550">
                <a:solidFill>
                  <a:srgbClr val="0F2922"/>
                </a:solidFill>
              </a:rPr>
              <a:t>Persiapan untuk berselancar sering dimulai dari</a:t>
            </a:r>
          </a:p>
          <a:p xmlns:a="http://schemas.openxmlformats.org/drawingml/2006/main">
            <a:pPr algn="l">
              <a:defRPr sz="2550">
                <a:solidFill>
                  <a:srgbClr val="0F2922"/>
                </a:solidFill>
              </a:defRPr>
            </a:pPr>
            <a:r>
              <a:rPr sz="2550">
                <a:solidFill>
                  <a:srgbClr val="0F2922"/>
                </a:solidFill>
              </a:rPr>
              <a:t>informasi yang terpisah-pisah.</a:t>
            </a:r>
          </a:p>
        </p:txBody>
      </p:sp>
      <p:sp>
        <p:nvSpPr>
          <p:cNvPr id="3" name="why-dot-0">
            <a:extLst xmlns:a="http://schemas.openxmlformats.org/drawingml/2006/main">
              <a:ext uri="{FF2B5EF4-FFF2-40B4-BE49-F238E27FC236}">
                <a16:creationId xmlns:a16="http://schemas.microsoft.com/office/drawing/2014/main" id="{E58626B8-BE9C-4886-9F84-E85676A6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43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4" name="why-item-0">
            <a:extLst xmlns:a="http://schemas.openxmlformats.org/drawingml/2006/main">
              <a:ext uri="{FF2B5EF4-FFF2-40B4-BE49-F238E27FC236}">
                <a16:creationId xmlns:a16="http://schemas.microsoft.com/office/drawing/2014/main" id="{357C732C-57F9-4B01-ACE2-5409CFFF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22"/>
                </a:solidFill>
              </a:defRPr>
            </a:pPr>
            <a:r>
              <a:rPr sz="2025" b="1">
                <a:solidFill>
                  <a:srgbClr val="0F2922"/>
                </a:solidFill>
              </a:rPr>
              <a:t>Kondisi berubah cepat</a:t>
            </a:r>
          </a:p>
        </p:txBody>
      </p:sp>
      <p:sp>
        <p:nvSpPr>
          <p:cNvPr id="5" name="why-body-0">
            <a:extLst xmlns:a="http://schemas.openxmlformats.org/drawingml/2006/main">
              <a:ext uri="{FF2B5EF4-FFF2-40B4-BE49-F238E27FC236}">
                <a16:creationId xmlns:a16="http://schemas.microsoft.com/office/drawing/2014/main" id="{B5501385-6EA2-4B0D-BC3B-14805C3A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7068"/>
                </a:solidFill>
              </a:defRPr>
            </a:pPr>
            <a:r>
              <a:rPr sz="1500">
                <a:solidFill>
                  <a:srgbClr val="517068"/>
                </a:solidFill>
              </a:rPr>
              <a:t>Gelombang, angin, dan cuaca perlu dibaca bersama.</a:t>
            </a:r>
          </a:p>
        </p:txBody>
      </p:sp>
      <p:sp>
        <p:nvSpPr>
          <p:cNvPr id="6" name="why-rule-0">
            <a:extLst xmlns:a="http://schemas.openxmlformats.org/drawingml/2006/main">
              <a:ext uri="{FF2B5EF4-FFF2-40B4-BE49-F238E27FC236}">
                <a16:creationId xmlns:a16="http://schemas.microsoft.com/office/drawing/2014/main" id="{B9FFE32C-F5FE-4550-B567-4C0D946C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2"/>
          </a:solidFill>
          <a:ln xmlns:a="http://schemas.openxmlformats.org/drawingml/2006/main" w="0">
            <a:solidFill>
              <a:srgbClr val="BDD0D2"/>
            </a:solidFill>
            <a:prstDash val="solid"/>
          </a:ln>
        </p:spPr>
      </p:sp>
      <p:sp>
        <p:nvSpPr>
          <p:cNvPr id="7" name="why-dot-1">
            <a:extLst xmlns:a="http://schemas.openxmlformats.org/drawingml/2006/main">
              <a:ext uri="{FF2B5EF4-FFF2-40B4-BE49-F238E27FC236}">
                <a16:creationId xmlns:a16="http://schemas.microsoft.com/office/drawing/2014/main" id="{840BEA64-DDBF-4ADD-AAE3-F6E1B55C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8" name="why-item-1">
            <a:extLst xmlns:a="http://schemas.openxmlformats.org/drawingml/2006/main">
              <a:ext uri="{FF2B5EF4-FFF2-40B4-BE49-F238E27FC236}">
                <a16:creationId xmlns:a16="http://schemas.microsoft.com/office/drawing/2014/main" id="{BFDCBBC5-6FD4-40EE-940F-968E91D9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384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22"/>
                </a:solidFill>
              </a:defRPr>
            </a:pPr>
            <a:r>
              <a:rPr sz="2025" b="1">
                <a:solidFill>
                  <a:srgbClr val="0F2922"/>
                </a:solidFill>
              </a:rPr>
              <a:t>Spot harus sesuai level</a:t>
            </a:r>
          </a:p>
        </p:txBody>
      </p:sp>
      <p:sp>
        <p:nvSpPr>
          <p:cNvPr id="9" name="why-body-1">
            <a:extLst xmlns:a="http://schemas.openxmlformats.org/drawingml/2006/main">
              <a:ext uri="{FF2B5EF4-FFF2-40B4-BE49-F238E27FC236}">
                <a16:creationId xmlns:a16="http://schemas.microsoft.com/office/drawing/2014/main" id="{6CE00686-4346-4136-994A-3FB4D5D8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7068"/>
                </a:solidFill>
              </a:defRPr>
            </a:pPr>
            <a:r>
              <a:rPr sz="1500">
                <a:solidFill>
                  <a:srgbClr val="517068"/>
                </a:solidFill>
              </a:rPr>
              <a:t>Setiap surfer membutuhkan konteks yang berbeda.</a:t>
            </a:r>
          </a:p>
        </p:txBody>
      </p:sp>
      <p:sp>
        <p:nvSpPr>
          <p:cNvPr id="10" name="why-rule-1">
            <a:extLst xmlns:a="http://schemas.openxmlformats.org/drawingml/2006/main">
              <a:ext uri="{FF2B5EF4-FFF2-40B4-BE49-F238E27FC236}">
                <a16:creationId xmlns:a16="http://schemas.microsoft.com/office/drawing/2014/main" id="{73EF65C5-874E-4790-8F6D-BDA0AB8F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433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2"/>
          </a:solidFill>
          <a:ln xmlns:a="http://schemas.openxmlformats.org/drawingml/2006/main" w="0">
            <a:solidFill>
              <a:srgbClr val="BDD0D2"/>
            </a:solidFill>
            <a:prstDash val="solid"/>
          </a:ln>
        </p:spPr>
      </p:sp>
      <p:sp>
        <p:nvSpPr>
          <p:cNvPr id="11" name="why-dot-2">
            <a:extLst xmlns:a="http://schemas.openxmlformats.org/drawingml/2006/main">
              <a:ext uri="{FF2B5EF4-FFF2-40B4-BE49-F238E27FC236}">
                <a16:creationId xmlns:a16="http://schemas.microsoft.com/office/drawing/2014/main" id="{631FB285-5456-469A-897D-35321B98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05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7D62"/>
          </a:solidFill>
          <a:ln xmlns:a="http://schemas.openxmlformats.org/drawingml/2006/main" w="0">
            <a:solidFill>
              <a:srgbClr val="EE7D62"/>
            </a:solidFill>
            <a:prstDash val="solid"/>
          </a:ln>
        </p:spPr>
      </p:sp>
      <p:sp>
        <p:nvSpPr>
          <p:cNvPr id="12" name="why-item-2">
            <a:extLst xmlns:a="http://schemas.openxmlformats.org/drawingml/2006/main">
              <a:ext uri="{FF2B5EF4-FFF2-40B4-BE49-F238E27FC236}">
                <a16:creationId xmlns:a16="http://schemas.microsoft.com/office/drawing/2014/main" id="{F366E030-C620-44BE-867D-B7A185AE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22"/>
                </a:solidFill>
              </a:defRPr>
            </a:pPr>
            <a:r>
              <a:rPr sz="2025" b="1">
                <a:solidFill>
                  <a:srgbClr val="0F2922"/>
                </a:solidFill>
              </a:rPr>
              <a:t>Risiko perlu dibagikan</a:t>
            </a:r>
          </a:p>
        </p:txBody>
      </p:sp>
      <p:sp>
        <p:nvSpPr>
          <p:cNvPr id="13" name="why-body-2">
            <a:extLst xmlns:a="http://schemas.openxmlformats.org/drawingml/2006/main">
              <a:ext uri="{FF2B5EF4-FFF2-40B4-BE49-F238E27FC236}">
                <a16:creationId xmlns:a16="http://schemas.microsoft.com/office/drawing/2014/main" id="{CC868E15-A60F-4A8F-B11D-D801CCC8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76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7068"/>
                </a:solidFill>
              </a:defRPr>
            </a:pPr>
            <a:r>
              <a:rPr sz="1500">
                <a:solidFill>
                  <a:srgbClr val="517068"/>
                </a:solidFill>
              </a:rPr>
              <a:t>Peringatan lokal membantu komunitas lebih siap.</a:t>
            </a:r>
          </a:p>
        </p:txBody>
      </p:sp>
      <p:sp>
        <p:nvSpPr>
          <p:cNvPr id="14" name="footer-2">
            <a:extLst xmlns:a="http://schemas.openxmlformats.org/drawingml/2006/main">
              <a:ext uri="{FF2B5EF4-FFF2-40B4-BE49-F238E27FC236}">
                <a16:creationId xmlns:a16="http://schemas.microsoft.com/office/drawing/2014/main" id="{EBDA5439-B6B7-4C2E-9B33-CBF8966E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17068"/>
                </a:solidFill>
              </a:defRPr>
            </a:pPr>
            <a:r>
              <a:rPr sz="975">
                <a:solidFill>
                  <a:srgbClr val="517068"/>
                </a:solidFill>
              </a:rPr>
              <a:t>Ombak Nusantara  /  02</a:t>
            </a:r>
          </a:p>
        </p:txBody>
      </p:sp>
    </p:spTree>
    <p:extLst>
      <p:ext uri="{BB962C8B-B14F-4D97-AF65-F5344CB8AC3E}">
        <p14:creationId xmlns:p14="http://schemas.microsoft.com/office/powerpoint/2010/main" val="965338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what-title">
            <a:extLst xmlns:a="http://schemas.openxmlformats.org/drawingml/2006/main">
              <a:ext uri="{FF2B5EF4-FFF2-40B4-BE49-F238E27FC236}">
                <a16:creationId xmlns:a16="http://schemas.microsoft.com/office/drawing/2014/main" id="{56510889-7931-4224-BBE0-D6F7A3BF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922"/>
                </a:solidFill>
              </a:defRPr>
            </a:pPr>
            <a:r>
              <a:rPr sz="3600" b="1">
                <a:solidFill>
                  <a:srgbClr val="0F2922"/>
                </a:solidFill>
              </a:rPr>
              <a:t>Apa itu Ombak Nusantara?</a:t>
            </a:r>
          </a:p>
        </p:txBody>
      </p:sp>
      <p:sp>
        <p:nvSpPr>
          <p:cNvPr id="2" name="what-intro">
            <a:extLst xmlns:a="http://schemas.openxmlformats.org/drawingml/2006/main">
              <a:ext uri="{FF2B5EF4-FFF2-40B4-BE49-F238E27FC236}">
                <a16:creationId xmlns:a16="http://schemas.microsoft.com/office/drawing/2014/main" id="{8C4D5328-8F58-46A1-BFF7-38F0D2FC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17068"/>
                </a:solidFill>
              </a:defRPr>
            </a:pPr>
            <a:r>
              <a:rPr sz="1800">
                <a:solidFill>
                  <a:srgbClr val="517068"/>
                </a:solidFill>
              </a:rPr>
              <a:t>Platform pendamping surfer untuk mengeksplorasi spot,</a:t>
            </a:r>
          </a:p>
          <a:p xmlns:a="http://schemas.openxmlformats.org/drawingml/2006/main">
            <a:pPr algn="l">
              <a:defRPr sz="1800">
                <a:solidFill>
                  <a:srgbClr val="517068"/>
                </a:solidFill>
              </a:defRPr>
            </a:pPr>
            <a:r>
              <a:rPr sz="1800">
                <a:solidFill>
                  <a:srgbClr val="517068"/>
                </a:solidFill>
              </a:rPr>
              <a:t>membaca kondisi, dan saling berbagi informasi.</a:t>
            </a:r>
          </a:p>
        </p:txBody>
      </p:sp>
      <p:sp>
        <p:nvSpPr>
          <p:cNvPr id="3" name="what-accent-0">
            <a:extLst xmlns:a="http://schemas.openxmlformats.org/drawingml/2006/main">
              <a:ext uri="{FF2B5EF4-FFF2-40B4-BE49-F238E27FC236}">
                <a16:creationId xmlns:a16="http://schemas.microsoft.com/office/drawing/2014/main" id="{5BA55CEA-CF48-443D-A918-0CCC9546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4" name="what-cell-title-0">
            <a:extLst xmlns:a="http://schemas.openxmlformats.org/drawingml/2006/main">
              <a:ext uri="{FF2B5EF4-FFF2-40B4-BE49-F238E27FC236}">
                <a16:creationId xmlns:a16="http://schemas.microsoft.com/office/drawing/2014/main" id="{1B0914E2-F69F-4CE9-BC6D-E09EAB3E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2922"/>
                </a:solidFill>
              </a:defRPr>
            </a:pPr>
            <a:r>
              <a:rPr sz="2175" b="1">
                <a:solidFill>
                  <a:srgbClr val="0F2922"/>
                </a:solidFill>
              </a:rPr>
              <a:t>Surf Spots</a:t>
            </a:r>
          </a:p>
        </p:txBody>
      </p:sp>
      <p:sp>
        <p:nvSpPr>
          <p:cNvPr id="5" name="what-cell-body-0">
            <a:extLst xmlns:a="http://schemas.openxmlformats.org/drawingml/2006/main">
              <a:ext uri="{FF2B5EF4-FFF2-40B4-BE49-F238E27FC236}">
                <a16:creationId xmlns:a16="http://schemas.microsoft.com/office/drawing/2014/main" id="{9627D39B-8E28-4678-A52C-C1ECD491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7068"/>
                </a:solidFill>
              </a:defRPr>
            </a:pPr>
            <a:r>
              <a:rPr sz="1575">
                <a:solidFill>
                  <a:srgbClr val="517068"/>
                </a:solidFill>
              </a:rPr>
              <a:t>Peta lokasi dan pencarian spot.</a:t>
            </a:r>
          </a:p>
        </p:txBody>
      </p:sp>
      <p:sp>
        <p:nvSpPr>
          <p:cNvPr id="6" name="what-accent-1">
            <a:extLst xmlns:a="http://schemas.openxmlformats.org/drawingml/2006/main">
              <a:ext uri="{FF2B5EF4-FFF2-40B4-BE49-F238E27FC236}">
                <a16:creationId xmlns:a16="http://schemas.microsoft.com/office/drawing/2014/main" id="{DFAC81B8-4BAF-4BA7-9C66-B022DD3F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7" name="what-cell-title-1">
            <a:extLst xmlns:a="http://schemas.openxmlformats.org/drawingml/2006/main">
              <a:ext uri="{FF2B5EF4-FFF2-40B4-BE49-F238E27FC236}">
                <a16:creationId xmlns:a16="http://schemas.microsoft.com/office/drawing/2014/main" id="{31A0BFA1-883D-41F3-9277-88E24D6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19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2922"/>
                </a:solidFill>
              </a:defRPr>
            </a:pPr>
            <a:r>
              <a:rPr sz="2175" b="1">
                <a:solidFill>
                  <a:srgbClr val="0F2922"/>
                </a:solidFill>
              </a:rPr>
              <a:t>Forecast</a:t>
            </a:r>
          </a:p>
        </p:txBody>
      </p:sp>
      <p:sp>
        <p:nvSpPr>
          <p:cNvPr id="8" name="what-cell-body-1">
            <a:extLst xmlns:a="http://schemas.openxmlformats.org/drawingml/2006/main">
              <a:ext uri="{FF2B5EF4-FFF2-40B4-BE49-F238E27FC236}">
                <a16:creationId xmlns:a16="http://schemas.microsoft.com/office/drawing/2014/main" id="{4FE161E6-47EF-4553-BE55-BA80A8BE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7068"/>
                </a:solidFill>
              </a:defRPr>
            </a:pPr>
            <a:r>
              <a:rPr sz="1575">
                <a:solidFill>
                  <a:srgbClr val="517068"/>
                </a:solidFill>
              </a:rPr>
              <a:t>Gelombang, angin, dan tren kondisi.</a:t>
            </a:r>
          </a:p>
        </p:txBody>
      </p:sp>
      <p:sp>
        <p:nvSpPr>
          <p:cNvPr id="9" name="what-accent-2">
            <a:extLst xmlns:a="http://schemas.openxmlformats.org/drawingml/2006/main">
              <a:ext uri="{FF2B5EF4-FFF2-40B4-BE49-F238E27FC236}">
                <a16:creationId xmlns:a16="http://schemas.microsoft.com/office/drawing/2014/main" id="{0C260643-9BEB-43EF-A4BA-47F49449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10" name="what-cell-title-2">
            <a:extLst xmlns:a="http://schemas.openxmlformats.org/drawingml/2006/main">
              <a:ext uri="{FF2B5EF4-FFF2-40B4-BE49-F238E27FC236}">
                <a16:creationId xmlns:a16="http://schemas.microsoft.com/office/drawing/2014/main" id="{AD06EA49-023A-45D5-9F78-D195E3D3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577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2922"/>
                </a:solidFill>
              </a:defRPr>
            </a:pPr>
            <a:r>
              <a:rPr sz="2175" b="1">
                <a:solidFill>
                  <a:srgbClr val="0F2922"/>
                </a:solidFill>
              </a:rPr>
              <a:t>Surf Planner</a:t>
            </a:r>
          </a:p>
        </p:txBody>
      </p:sp>
      <p:sp>
        <p:nvSpPr>
          <p:cNvPr id="11" name="what-cell-body-2">
            <a:extLst xmlns:a="http://schemas.openxmlformats.org/drawingml/2006/main">
              <a:ext uri="{FF2B5EF4-FFF2-40B4-BE49-F238E27FC236}">
                <a16:creationId xmlns:a16="http://schemas.microsoft.com/office/drawing/2014/main" id="{8EDAD3D8-9B77-4C96-811A-90D2BA76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7068"/>
                </a:solidFill>
              </a:defRPr>
            </a:pPr>
            <a:r>
              <a:rPr sz="1575">
                <a:solidFill>
                  <a:srgbClr val="517068"/>
                </a:solidFill>
              </a:rPr>
              <a:t>Rencana sesi sesuai level dan waktu.</a:t>
            </a:r>
          </a:p>
        </p:txBody>
      </p:sp>
      <p:sp>
        <p:nvSpPr>
          <p:cNvPr id="12" name="what-accent-3">
            <a:extLst xmlns:a="http://schemas.openxmlformats.org/drawingml/2006/main">
              <a:ext uri="{FF2B5EF4-FFF2-40B4-BE49-F238E27FC236}">
                <a16:creationId xmlns:a16="http://schemas.microsoft.com/office/drawing/2014/main" id="{F6486B98-5F86-40E8-AD6F-C6BFCE9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00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D62"/>
          </a:solidFill>
          <a:ln xmlns:a="http://schemas.openxmlformats.org/drawingml/2006/main" w="0">
            <a:solidFill>
              <a:srgbClr val="EE7D62"/>
            </a:solidFill>
            <a:prstDash val="solid"/>
          </a:ln>
        </p:spPr>
      </p:sp>
      <p:sp>
        <p:nvSpPr>
          <p:cNvPr id="13" name="what-cell-title-3">
            <a:extLst xmlns:a="http://schemas.openxmlformats.org/drawingml/2006/main">
              <a:ext uri="{FF2B5EF4-FFF2-40B4-BE49-F238E27FC236}">
                <a16:creationId xmlns:a16="http://schemas.microsoft.com/office/drawing/2014/main" id="{302069D0-8F54-46DF-9ED6-2417927A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577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2922"/>
                </a:solidFill>
              </a:defRPr>
            </a:pPr>
            <a:r>
              <a:rPr sz="2175" b="1">
                <a:solidFill>
                  <a:srgbClr val="0F2922"/>
                </a:solidFill>
              </a:rPr>
              <a:t>Hazard Alert</a:t>
            </a:r>
          </a:p>
        </p:txBody>
      </p:sp>
      <p:sp>
        <p:nvSpPr>
          <p:cNvPr id="14" name="what-cell-body-3">
            <a:extLst xmlns:a="http://schemas.openxmlformats.org/drawingml/2006/main">
              <a:ext uri="{FF2B5EF4-FFF2-40B4-BE49-F238E27FC236}">
                <a16:creationId xmlns:a16="http://schemas.microsoft.com/office/drawing/2014/main" id="{9BC80F7C-A9AE-4B17-902E-D7A69DB2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24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7068"/>
                </a:solidFill>
              </a:defRPr>
            </a:pPr>
            <a:r>
              <a:rPr sz="1575">
                <a:solidFill>
                  <a:srgbClr val="517068"/>
                </a:solidFill>
              </a:rPr>
              <a:t>Laporan risiko dari komunitas.</a:t>
            </a:r>
          </a:p>
        </p:txBody>
      </p:sp>
      <p:sp>
        <p:nvSpPr>
          <p:cNvPr id="15" name="footer-3">
            <a:extLst xmlns:a="http://schemas.openxmlformats.org/drawingml/2006/main">
              <a:ext uri="{FF2B5EF4-FFF2-40B4-BE49-F238E27FC236}">
                <a16:creationId xmlns:a16="http://schemas.microsoft.com/office/drawing/2014/main" id="{D967F058-686C-4E55-AEB8-38A4C1FF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17068"/>
                </a:solidFill>
              </a:defRPr>
            </a:pPr>
            <a:r>
              <a:rPr sz="975">
                <a:solidFill>
                  <a:srgbClr val="517068"/>
                </a:solidFill>
              </a:rPr>
              <a:t>Ombak Nusantara  /  03</a:t>
            </a:r>
          </a:p>
        </p:txBody>
      </p:sp>
    </p:spTree>
    <p:extLst>
      <p:ext uri="{BB962C8B-B14F-4D97-AF65-F5344CB8AC3E}">
        <p14:creationId xmlns:p14="http://schemas.microsoft.com/office/powerpoint/2010/main" val="429074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96243CB6-CDBF-4F65-9AB5-47A63158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2922"/>
                </a:solidFill>
              </a:defRPr>
            </a:pPr>
            <a:r>
              <a:rPr sz="3450" b="1">
                <a:solidFill>
                  <a:srgbClr val="0F2922"/>
                </a:solidFill>
              </a:rPr>
              <a:t>Dari pencarian spot sampai sesi yang lebih siap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AD09B075-8CAB-443F-8B60-71D9BD39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17068"/>
                </a:solidFill>
              </a:defRPr>
            </a:pPr>
            <a:r>
              <a:rPr sz="1725">
                <a:solidFill>
                  <a:srgbClr val="517068"/>
                </a:solidFill>
              </a:rPr>
              <a:t>Alur yang sederhana untuk membantu keputusan sebelum masuk air.</a:t>
            </a:r>
          </a:p>
        </p:txBody>
      </p:sp>
      <p:sp>
        <p:nvSpPr>
          <p:cNvPr id="3" name="flow-line">
            <a:extLst xmlns:a="http://schemas.openxmlformats.org/drawingml/2006/main">
              <a:ext uri="{FF2B5EF4-FFF2-40B4-BE49-F238E27FC236}">
                <a16:creationId xmlns:a16="http://schemas.microsoft.com/office/drawing/2014/main" id="{1941F15E-498B-4A23-867F-7BF0F262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670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26"/>
          </a:solidFill>
          <a:ln xmlns:a="http://schemas.openxmlformats.org/drawingml/2006/main" w="0">
            <a:solidFill>
              <a:srgbClr val="112D26"/>
            </a:solidFill>
            <a:prstDash val="solid"/>
          </a:ln>
        </p:spPr>
      </p:sp>
      <p:sp>
        <p:nvSpPr>
          <p:cNvPr id="4" name="flow-dot-0">
            <a:extLst xmlns:a="http://schemas.openxmlformats.org/drawingml/2006/main">
              <a:ext uri="{FF2B5EF4-FFF2-40B4-BE49-F238E27FC236}">
                <a16:creationId xmlns:a16="http://schemas.microsoft.com/office/drawing/2014/main" id="{89001EE4-1166-4A4F-A342-D53EC93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00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5" name="flow-num-0">
            <a:extLst xmlns:a="http://schemas.openxmlformats.org/drawingml/2006/main">
              <a:ext uri="{FF2B5EF4-FFF2-40B4-BE49-F238E27FC236}">
                <a16:creationId xmlns:a16="http://schemas.microsoft.com/office/drawing/2014/main" id="{CC4FA308-EB9B-4133-97CC-332F526D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C8"/>
                </a:solidFill>
              </a:defRPr>
            </a:pPr>
            <a:r>
              <a:rPr sz="1425" b="1">
                <a:solidFill>
                  <a:srgbClr val="00A6C8"/>
                </a:solidFill>
              </a:rPr>
              <a:t>01</a:t>
            </a:r>
          </a:p>
        </p:txBody>
      </p:sp>
      <p:sp>
        <p:nvSpPr>
          <p:cNvPr id="6" name="flow-stage-0">
            <a:extLst xmlns:a="http://schemas.openxmlformats.org/drawingml/2006/main">
              <a:ext uri="{FF2B5EF4-FFF2-40B4-BE49-F238E27FC236}">
                <a16:creationId xmlns:a16="http://schemas.microsoft.com/office/drawing/2014/main" id="{E047F19B-2E02-445D-9AFE-04C539BF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2922"/>
                </a:solidFill>
              </a:defRPr>
            </a:pPr>
            <a:r>
              <a:rPr sz="2250" b="1">
                <a:solidFill>
                  <a:srgbClr val="0F2922"/>
                </a:solidFill>
              </a:rPr>
              <a:t>Pilih spot</a:t>
            </a:r>
          </a:p>
        </p:txBody>
      </p:sp>
      <p:sp>
        <p:nvSpPr>
          <p:cNvPr id="7" name="flow-body-0">
            <a:extLst xmlns:a="http://schemas.openxmlformats.org/drawingml/2006/main">
              <a:ext uri="{FF2B5EF4-FFF2-40B4-BE49-F238E27FC236}">
                <a16:creationId xmlns:a16="http://schemas.microsoft.com/office/drawing/2014/main" id="{832DF298-E605-472B-B03D-7F6A18C2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7068"/>
                </a:solidFill>
              </a:defRPr>
            </a:pPr>
            <a:r>
              <a:rPr sz="1575">
                <a:solidFill>
                  <a:srgbClr val="517068"/>
                </a:solidFill>
              </a:rPr>
              <a:t>Cari pantai yang ingin dieksplorasi.</a:t>
            </a:r>
          </a:p>
        </p:txBody>
      </p:sp>
      <p:sp>
        <p:nvSpPr>
          <p:cNvPr id="8" name="flow-dot-1">
            <a:extLst xmlns:a="http://schemas.openxmlformats.org/drawingml/2006/main">
              <a:ext uri="{FF2B5EF4-FFF2-40B4-BE49-F238E27FC236}">
                <a16:creationId xmlns:a16="http://schemas.microsoft.com/office/drawing/2014/main" id="{2FD83FBF-62E3-4A64-AC42-63792CEA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00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9" name="flow-num-1">
            <a:extLst xmlns:a="http://schemas.openxmlformats.org/drawingml/2006/main">
              <a:ext uri="{FF2B5EF4-FFF2-40B4-BE49-F238E27FC236}">
                <a16:creationId xmlns:a16="http://schemas.microsoft.com/office/drawing/2014/main" id="{8C4F9B52-9201-42D1-B003-7DB24CA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03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C8"/>
                </a:solidFill>
              </a:defRPr>
            </a:pPr>
            <a:r>
              <a:rPr sz="1425" b="1">
                <a:solidFill>
                  <a:srgbClr val="00A6C8"/>
                </a:solidFill>
              </a:rPr>
              <a:t>02</a:t>
            </a:r>
          </a:p>
        </p:txBody>
      </p:sp>
      <p:sp>
        <p:nvSpPr>
          <p:cNvPr id="10" name="flow-stage-1">
            <a:extLst xmlns:a="http://schemas.openxmlformats.org/drawingml/2006/main">
              <a:ext uri="{FF2B5EF4-FFF2-40B4-BE49-F238E27FC236}">
                <a16:creationId xmlns:a16="http://schemas.microsoft.com/office/drawing/2014/main" id="{C9EEC0A7-D6D4-42E0-B489-976060B0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52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2922"/>
                </a:solidFill>
              </a:defRPr>
            </a:pPr>
            <a:r>
              <a:rPr sz="2250" b="1">
                <a:solidFill>
                  <a:srgbClr val="0F2922"/>
                </a:solidFill>
              </a:rPr>
              <a:t>Cek kondisi</a:t>
            </a:r>
          </a:p>
        </p:txBody>
      </p:sp>
      <p:sp>
        <p:nvSpPr>
          <p:cNvPr id="11" name="flow-body-1">
            <a:extLst xmlns:a="http://schemas.openxmlformats.org/drawingml/2006/main">
              <a:ext uri="{FF2B5EF4-FFF2-40B4-BE49-F238E27FC236}">
                <a16:creationId xmlns:a16="http://schemas.microsoft.com/office/drawing/2014/main" id="{788093D2-A45D-4537-A7CB-EDE0958B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767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7068"/>
                </a:solidFill>
              </a:defRPr>
            </a:pPr>
            <a:r>
              <a:rPr sz="1575">
                <a:solidFill>
                  <a:srgbClr val="517068"/>
                </a:solidFill>
              </a:rPr>
              <a:t>Lihat gelombang, angin, dan peringatan.</a:t>
            </a:r>
          </a:p>
        </p:txBody>
      </p:sp>
      <p:sp>
        <p:nvSpPr>
          <p:cNvPr id="12" name="flow-dot-2">
            <a:extLst xmlns:a="http://schemas.openxmlformats.org/drawingml/2006/main">
              <a:ext uri="{FF2B5EF4-FFF2-40B4-BE49-F238E27FC236}">
                <a16:creationId xmlns:a16="http://schemas.microsoft.com/office/drawing/2014/main" id="{D2606C15-FB8F-4FE9-9ECA-595BD2F4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00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7D62"/>
          </a:solidFill>
          <a:ln xmlns:a="http://schemas.openxmlformats.org/drawingml/2006/main" w="0">
            <a:solidFill>
              <a:srgbClr val="EE7D62"/>
            </a:solidFill>
            <a:prstDash val="solid"/>
          </a:ln>
        </p:spPr>
      </p:sp>
      <p:sp>
        <p:nvSpPr>
          <p:cNvPr id="13" name="flow-num-2">
            <a:extLst xmlns:a="http://schemas.openxmlformats.org/drawingml/2006/main">
              <a:ext uri="{FF2B5EF4-FFF2-40B4-BE49-F238E27FC236}">
                <a16:creationId xmlns:a16="http://schemas.microsoft.com/office/drawing/2014/main" id="{8237968B-EACC-4340-A250-25B6C0CB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03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C8"/>
                </a:solidFill>
              </a:defRPr>
            </a:pPr>
            <a:r>
              <a:rPr sz="1425" b="1">
                <a:solidFill>
                  <a:srgbClr val="00A6C8"/>
                </a:solidFill>
              </a:rPr>
              <a:t>03</a:t>
            </a:r>
          </a:p>
        </p:txBody>
      </p:sp>
      <p:sp>
        <p:nvSpPr>
          <p:cNvPr id="14" name="flow-stage-2">
            <a:extLst xmlns:a="http://schemas.openxmlformats.org/drawingml/2006/main">
              <a:ext uri="{FF2B5EF4-FFF2-40B4-BE49-F238E27FC236}">
                <a16:creationId xmlns:a16="http://schemas.microsoft.com/office/drawing/2014/main" id="{DFBC8B1E-495B-4753-97AA-E3BA0FD2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2922"/>
                </a:solidFill>
              </a:defRPr>
            </a:pPr>
            <a:r>
              <a:rPr sz="2250" b="1">
                <a:solidFill>
                  <a:srgbClr val="0F2922"/>
                </a:solidFill>
              </a:rPr>
              <a:t>Susun rencana</a:t>
            </a:r>
          </a:p>
        </p:txBody>
      </p:sp>
      <p:sp>
        <p:nvSpPr>
          <p:cNvPr id="15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11BB175-CBA0-464C-AC83-A488D038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767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7068"/>
                </a:solidFill>
              </a:defRPr>
            </a:pPr>
            <a:r>
              <a:rPr sz="1575">
                <a:solidFill>
                  <a:srgbClr val="517068"/>
                </a:solidFill>
              </a:rPr>
              <a:t>Siapkan sesi sesuai kebutuhanmu.</a:t>
            </a:r>
          </a:p>
        </p:txBody>
      </p:sp>
      <p:sp>
        <p:nvSpPr>
          <p:cNvPr id="16" name="footer-4">
            <a:extLst xmlns:a="http://schemas.openxmlformats.org/drawingml/2006/main">
              <a:ext uri="{FF2B5EF4-FFF2-40B4-BE49-F238E27FC236}">
                <a16:creationId xmlns:a16="http://schemas.microsoft.com/office/drawing/2014/main" id="{9F7455DA-F845-44B4-A68B-7ADB1A3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17068"/>
                </a:solidFill>
              </a:defRPr>
            </a:pPr>
            <a:r>
              <a:rPr sz="975">
                <a:solidFill>
                  <a:srgbClr val="517068"/>
                </a:solidFill>
              </a:rPr>
              <a:t>Ombak Nusantara  /  04</a:t>
            </a:r>
          </a:p>
        </p:txBody>
      </p:sp>
    </p:spTree>
    <p:extLst>
      <p:ext uri="{BB962C8B-B14F-4D97-AF65-F5344CB8AC3E}">
        <p14:creationId xmlns:p14="http://schemas.microsoft.com/office/powerpoint/2010/main" val="548772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2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outcome-kicker">
            <a:extLst xmlns:a="http://schemas.openxmlformats.org/drawingml/2006/main">
              <a:ext uri="{FF2B5EF4-FFF2-40B4-BE49-F238E27FC236}">
                <a16:creationId xmlns:a16="http://schemas.microsoft.com/office/drawing/2014/main" id="{042F04F8-D6DF-4913-BC9B-67B67F14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1D6E8"/>
                </a:solidFill>
              </a:defRPr>
            </a:pPr>
            <a:r>
              <a:rPr sz="1200" b="1">
                <a:solidFill>
                  <a:srgbClr val="81D6E8"/>
                </a:solidFill>
              </a:rPr>
              <a:t>TUJUAN AKHIR</a:t>
            </a:r>
          </a:p>
        </p:txBody>
      </p:sp>
      <p:sp>
        <p:nvSpPr>
          <p:cNvPr id="2" name="outcome-title">
            <a:extLst xmlns:a="http://schemas.openxmlformats.org/drawingml/2006/main">
              <a:ext uri="{FF2B5EF4-FFF2-40B4-BE49-F238E27FC236}">
                <a16:creationId xmlns:a16="http://schemas.microsoft.com/office/drawing/2014/main" id="{66D98FFC-CD54-4BC6-92C7-9477AB01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Sesi yang lebih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percaya diri.</a:t>
            </a:r>
          </a:p>
        </p:txBody>
      </p:sp>
      <p:sp>
        <p:nvSpPr>
          <p:cNvPr id="3" name="outcome-copy">
            <a:extLst xmlns:a="http://schemas.openxmlformats.org/drawingml/2006/main">
              <a:ext uri="{FF2B5EF4-FFF2-40B4-BE49-F238E27FC236}">
                <a16:creationId xmlns:a16="http://schemas.microsoft.com/office/drawing/2014/main" id="{6F225337-765F-47CE-AE9E-A50CBA61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C5DAD5"/>
                </a:solidFill>
              </a:defRPr>
            </a:pPr>
            <a:r>
              <a:rPr sz="1875">
                <a:solidFill>
                  <a:srgbClr val="C5DAD5"/>
                </a:solidFill>
              </a:rPr>
              <a:t>Ombak Nusantara menghubungkan kondisi laut,</a:t>
            </a:r>
          </a:p>
          <a:p xmlns:a="http://schemas.openxmlformats.org/drawingml/2006/main">
            <a:pPr algn="l">
              <a:defRPr sz="1875">
                <a:solidFill>
                  <a:srgbClr val="C5DAD5"/>
                </a:solidFill>
              </a:defRPr>
            </a:pPr>
            <a:r>
              <a:rPr sz="1875">
                <a:solidFill>
                  <a:srgbClr val="C5DAD5"/>
                </a:solidFill>
              </a:rPr>
              <a:t>rencana personal, dan informasi komunitas.</a:t>
            </a:r>
          </a:p>
        </p:txBody>
      </p:sp>
      <p:sp>
        <p:nvSpPr>
          <p:cNvPr id="4" name="outcome-rule-0">
            <a:extLst xmlns:a="http://schemas.openxmlformats.org/drawingml/2006/main">
              <a:ext uri="{FF2B5EF4-FFF2-40B4-BE49-F238E27FC236}">
                <a16:creationId xmlns:a16="http://schemas.microsoft.com/office/drawing/2014/main" id="{28C43AB3-4EDA-4054-8227-B5E116C5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335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177"/>
          </a:solidFill>
          <a:ln xmlns:a="http://schemas.openxmlformats.org/drawingml/2006/main" w="0">
            <a:solidFill>
              <a:srgbClr val="5A8177"/>
            </a:solidFill>
            <a:prstDash val="solid"/>
          </a:ln>
        </p:spPr>
      </p:sp>
      <p:sp>
        <p:nvSpPr>
          <p:cNvPr id="5" name="outcome-item-0">
            <a:extLst xmlns:a="http://schemas.openxmlformats.org/drawingml/2006/main">
              <a:ext uri="{FF2B5EF4-FFF2-40B4-BE49-F238E27FC236}">
                <a16:creationId xmlns:a16="http://schemas.microsoft.com/office/drawing/2014/main" id="{BDF673E7-91F7-4ABE-994F-493836E7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43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Lebih siap</a:t>
            </a:r>
          </a:p>
        </p:txBody>
      </p:sp>
      <p:sp>
        <p:nvSpPr>
          <p:cNvPr id="6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69BEF562-DE6D-4031-AACE-4C002634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B6CCC6"/>
                </a:solidFill>
              </a:defRPr>
            </a:pPr>
            <a:r>
              <a:rPr sz="1500">
                <a:solidFill>
                  <a:srgbClr val="B6CCC6"/>
                </a:solidFill>
              </a:rPr>
              <a:t>Kondisi terbaca</a:t>
            </a:r>
          </a:p>
        </p:txBody>
      </p:sp>
      <p:sp>
        <p:nvSpPr>
          <p:cNvPr id="7" name="outcome-rule-1">
            <a:extLst xmlns:a="http://schemas.openxmlformats.org/drawingml/2006/main">
              <a:ext uri="{FF2B5EF4-FFF2-40B4-BE49-F238E27FC236}">
                <a16:creationId xmlns:a16="http://schemas.microsoft.com/office/drawing/2014/main" id="{FE8C8C84-9C31-486A-8C0A-8A30DDF8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D62"/>
          </a:solidFill>
          <a:ln xmlns:a="http://schemas.openxmlformats.org/drawingml/2006/main" w="0">
            <a:solidFill>
              <a:srgbClr val="EE7D62"/>
            </a:solidFill>
            <a:prstDash val="solid"/>
          </a:ln>
        </p:spPr>
      </p:sp>
      <p:sp>
        <p:nvSpPr>
          <p:cNvPr id="8" name="outcome-item-1">
            <a:extLst xmlns:a="http://schemas.openxmlformats.org/drawingml/2006/main">
              <a:ext uri="{FF2B5EF4-FFF2-40B4-BE49-F238E27FC236}">
                <a16:creationId xmlns:a16="http://schemas.microsoft.com/office/drawing/2014/main" id="{7EC07F3E-65C2-45CA-A5A0-E41713DF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Lebih aman</a:t>
            </a:r>
          </a:p>
        </p:txBody>
      </p:sp>
      <p:sp>
        <p:nvSpPr>
          <p:cNvPr id="9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9B2B0AA8-2224-41B9-BBE6-B0E3D8E4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B6CCC6"/>
                </a:solidFill>
              </a:defRPr>
            </a:pPr>
            <a:r>
              <a:rPr sz="1500">
                <a:solidFill>
                  <a:srgbClr val="B6CCC6"/>
                </a:solidFill>
              </a:rPr>
              <a:t>Risiko terlihat</a:t>
            </a:r>
          </a:p>
        </p:txBody>
      </p:sp>
      <p:sp>
        <p:nvSpPr>
          <p:cNvPr id="10" name="outcome-rule-2">
            <a:extLst xmlns:a="http://schemas.openxmlformats.org/drawingml/2006/main">
              <a:ext uri="{FF2B5EF4-FFF2-40B4-BE49-F238E27FC236}">
                <a16:creationId xmlns:a16="http://schemas.microsoft.com/office/drawing/2014/main" id="{5ED5B822-1791-4B76-BB48-542E37B8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624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177"/>
          </a:solidFill>
          <a:ln xmlns:a="http://schemas.openxmlformats.org/drawingml/2006/main" w="0">
            <a:solidFill>
              <a:srgbClr val="5A8177"/>
            </a:solidFill>
            <a:prstDash val="solid"/>
          </a:ln>
        </p:spPr>
      </p:sp>
      <p:sp>
        <p:nvSpPr>
          <p:cNvPr id="11" name="outcome-item-2">
            <a:extLst xmlns:a="http://schemas.openxmlformats.org/drawingml/2006/main">
              <a:ext uri="{FF2B5EF4-FFF2-40B4-BE49-F238E27FC236}">
                <a16:creationId xmlns:a16="http://schemas.microsoft.com/office/drawing/2014/main" id="{2019B710-7327-46B5-9557-C9578C0B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Lebih terhubung</a:t>
            </a:r>
          </a:p>
        </p:txBody>
      </p:sp>
      <p:sp>
        <p:nvSpPr>
          <p:cNvPr id="12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D02A9C45-BF18-41FC-9827-3CCC4545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101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B6CCC6"/>
                </a:solidFill>
              </a:defRPr>
            </a:pPr>
            <a:r>
              <a:rPr sz="1500">
                <a:solidFill>
                  <a:srgbClr val="B6CCC6"/>
                </a:solidFill>
              </a:rPr>
              <a:t>Komunitas berbagi</a:t>
            </a:r>
          </a:p>
        </p:txBody>
      </p:sp>
      <p:sp>
        <p:nvSpPr>
          <p:cNvPr id="13" name="outcome-footer">
            <a:extLst xmlns:a="http://schemas.openxmlformats.org/drawingml/2006/main">
              <a:ext uri="{FF2B5EF4-FFF2-40B4-BE49-F238E27FC236}">
                <a16:creationId xmlns:a16="http://schemas.microsoft.com/office/drawing/2014/main" id="{7F555761-660C-429F-83F6-07860B81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8AB2A9"/>
                </a:solidFill>
              </a:defRPr>
            </a:pPr>
            <a:r>
              <a:rPr sz="975">
                <a:solidFill>
                  <a:srgbClr val="8AB2A9"/>
                </a:solidFill>
              </a:rPr>
              <a:t>Ombak Nusantara</a:t>
            </a:r>
          </a:p>
        </p:txBody>
      </p:sp>
      <p:sp>
        <p:nvSpPr>
          <p:cNvPr id="14" name="outcome-page">
            <a:extLst xmlns:a="http://schemas.openxmlformats.org/drawingml/2006/main">
              <a:ext uri="{FF2B5EF4-FFF2-40B4-BE49-F238E27FC236}">
                <a16:creationId xmlns:a16="http://schemas.microsoft.com/office/drawing/2014/main" id="{15BC8667-C83F-4D2C-9834-89DC6F89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8AB2A9"/>
                </a:solidFill>
              </a:defRPr>
            </a:pPr>
            <a:r>
              <a:rPr sz="975">
                <a:solidFill>
                  <a:srgbClr val="8AB2A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6761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ch-kicker">
            <a:extLst xmlns:a="http://schemas.openxmlformats.org/drawingml/2006/main">
              <a:ext uri="{FF2B5EF4-FFF2-40B4-BE49-F238E27FC236}">
                <a16:creationId xmlns:a16="http://schemas.microsoft.com/office/drawing/2014/main" id="{DF5DA09D-E7C8-4694-9D17-6007F5C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C8"/>
                </a:solidFill>
              </a:defRPr>
            </a:pPr>
            <a:r>
              <a:rPr sz="1200" b="1">
                <a:solidFill>
                  <a:srgbClr val="00A6C8"/>
                </a:solidFill>
              </a:rPr>
              <a:t>TEKNOLOGI</a:t>
            </a:r>
          </a:p>
        </p:txBody>
      </p:sp>
      <p:sp>
        <p:nvSpPr>
          <p:cNvPr id="2" name="tech-title">
            <a:extLst xmlns:a="http://schemas.openxmlformats.org/drawingml/2006/main">
              <a:ext uri="{FF2B5EF4-FFF2-40B4-BE49-F238E27FC236}">
                <a16:creationId xmlns:a16="http://schemas.microsoft.com/office/drawing/2014/main" id="{682487D3-BE65-46B0-8A30-9760FF1C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922"/>
                </a:solidFill>
              </a:defRPr>
            </a:pPr>
            <a:r>
              <a:rPr sz="3600" b="1">
                <a:solidFill>
                  <a:srgbClr val="0F2922"/>
                </a:solidFill>
              </a:rPr>
              <a:t>Tech stack yang digunakan</a:t>
            </a:r>
          </a:p>
        </p:txBody>
      </p:sp>
      <p:sp>
        <p:nvSpPr>
          <p:cNvPr id="3" name="tech-lead">
            <a:extLst xmlns:a="http://schemas.openxmlformats.org/drawingml/2006/main">
              <a:ext uri="{FF2B5EF4-FFF2-40B4-BE49-F238E27FC236}">
                <a16:creationId xmlns:a16="http://schemas.microsoft.com/office/drawing/2014/main" id="{002F3AD5-6A4B-4F6F-96DC-BC543DC3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17068"/>
                </a:solidFill>
              </a:defRPr>
            </a:pPr>
            <a:r>
              <a:rPr sz="1650">
                <a:solidFill>
                  <a:srgbClr val="517068"/>
                </a:solidFill>
              </a:rPr>
              <a:t>Arsitektur end-to-end untuk pengalaman web, riset latar belakang, dan rekomendasi berbasis AI.</a:t>
            </a:r>
          </a:p>
        </p:txBody>
      </p:sp>
      <p:sp>
        <p:nvSpPr>
          <p:cNvPr id="4" name="tech-divider">
            <a:extLst xmlns:a="http://schemas.openxmlformats.org/drawingml/2006/main">
              <a:ext uri="{FF2B5EF4-FFF2-40B4-BE49-F238E27FC236}">
                <a16:creationId xmlns:a16="http://schemas.microsoft.com/office/drawing/2014/main" id="{EE7B57E9-7CE9-4F57-8726-628430BF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5" name="tech-left-accent-0">
            <a:extLst xmlns:a="http://schemas.openxmlformats.org/drawingml/2006/main">
              <a:ext uri="{FF2B5EF4-FFF2-40B4-BE49-F238E27FC236}">
                <a16:creationId xmlns:a16="http://schemas.microsoft.com/office/drawing/2014/main" id="{2B38939F-F763-40BE-AF5B-5842863C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6" name="tech-left-title-0">
            <a:extLst xmlns:a="http://schemas.openxmlformats.org/drawingml/2006/main">
              <a:ext uri="{FF2B5EF4-FFF2-40B4-BE49-F238E27FC236}">
                <a16:creationId xmlns:a16="http://schemas.microsoft.com/office/drawing/2014/main" id="{1162C7B8-51F4-4648-951C-E9E7AA24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22"/>
                </a:solidFill>
              </a:defRPr>
            </a:pPr>
            <a:r>
              <a:rPr sz="2025" b="1">
                <a:solidFill>
                  <a:srgbClr val="0F2922"/>
                </a:solidFill>
              </a:rPr>
              <a:t>Frontend</a:t>
            </a:r>
          </a:p>
        </p:txBody>
      </p:sp>
      <p:sp>
        <p:nvSpPr>
          <p:cNvPr id="7" name="tech-left-body-0">
            <a:extLst xmlns:a="http://schemas.openxmlformats.org/drawingml/2006/main">
              <a:ext uri="{FF2B5EF4-FFF2-40B4-BE49-F238E27FC236}">
                <a16:creationId xmlns:a16="http://schemas.microsoft.com/office/drawing/2014/main" id="{91DD936D-2197-46B4-9989-4B59C870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7068"/>
                </a:solidFill>
              </a:defRPr>
            </a:pPr>
            <a:r>
              <a:rPr sz="1500">
                <a:solidFill>
                  <a:srgbClr val="517068"/>
                </a:solidFill>
              </a:rPr>
              <a:t>Svelte · Vite · Tailwind CSS</a:t>
            </a:r>
          </a:p>
        </p:txBody>
      </p:sp>
      <p:sp>
        <p:nvSpPr>
          <p:cNvPr id="8" name="tech-left-accent-1">
            <a:extLst xmlns:a="http://schemas.openxmlformats.org/drawingml/2006/main">
              <a:ext uri="{FF2B5EF4-FFF2-40B4-BE49-F238E27FC236}">
                <a16:creationId xmlns:a16="http://schemas.microsoft.com/office/drawing/2014/main" id="{62ED7491-EA84-4C83-AC27-9F76AB1A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1947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9" name="tech-left-title-1">
            <a:extLst xmlns:a="http://schemas.openxmlformats.org/drawingml/2006/main">
              <a:ext uri="{FF2B5EF4-FFF2-40B4-BE49-F238E27FC236}">
                <a16:creationId xmlns:a16="http://schemas.microsoft.com/office/drawing/2014/main" id="{08B308FA-2EDC-40BD-9B54-E6B47E6C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22"/>
                </a:solidFill>
              </a:defRPr>
            </a:pPr>
            <a:r>
              <a:rPr sz="2025" b="1">
                <a:solidFill>
                  <a:srgbClr val="0F2922"/>
                </a:solidFill>
              </a:rPr>
              <a:t>Backend &amp; data</a:t>
            </a:r>
          </a:p>
        </p:txBody>
      </p:sp>
      <p:sp>
        <p:nvSpPr>
          <p:cNvPr id="10" name="tech-left-body-1">
            <a:extLst xmlns:a="http://schemas.openxmlformats.org/drawingml/2006/main">
              <a:ext uri="{FF2B5EF4-FFF2-40B4-BE49-F238E27FC236}">
                <a16:creationId xmlns:a16="http://schemas.microsoft.com/office/drawing/2014/main" id="{5A7B4858-1322-4F5D-A5EF-9F48A057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7068"/>
                </a:solidFill>
              </a:defRPr>
            </a:pPr>
            <a:r>
              <a:rPr sz="1500">
                <a:solidFill>
                  <a:srgbClr val="517068"/>
                </a:solidFill>
              </a:rPr>
              <a:t>FastAPI · SQLModel · Alembic · SQLite</a:t>
            </a:r>
          </a:p>
        </p:txBody>
      </p:sp>
      <p:sp>
        <p:nvSpPr>
          <p:cNvPr id="11" name="tech-left-accent-2">
            <a:extLst xmlns:a="http://schemas.openxmlformats.org/drawingml/2006/main">
              <a:ext uri="{FF2B5EF4-FFF2-40B4-BE49-F238E27FC236}">
                <a16:creationId xmlns:a16="http://schemas.microsoft.com/office/drawing/2014/main" id="{B27BA4B1-DE45-4B22-B2F4-A8BC4BA3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12" name="tech-left-title-2">
            <a:extLst xmlns:a="http://schemas.openxmlformats.org/drawingml/2006/main">
              <a:ext uri="{FF2B5EF4-FFF2-40B4-BE49-F238E27FC236}">
                <a16:creationId xmlns:a16="http://schemas.microsoft.com/office/drawing/2014/main" id="{A60C6B90-A030-4CEA-9889-B820F788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22"/>
                </a:solidFill>
              </a:defRPr>
            </a:pPr>
            <a:r>
              <a:rPr sz="2025" b="1">
                <a:solidFill>
                  <a:srgbClr val="0F2922"/>
                </a:solidFill>
              </a:rPr>
              <a:t>Background jobs</a:t>
            </a:r>
          </a:p>
        </p:txBody>
      </p:sp>
      <p:sp>
        <p:nvSpPr>
          <p:cNvPr id="13" name="tech-left-body-2">
            <a:extLst xmlns:a="http://schemas.openxmlformats.org/drawingml/2006/main">
              <a:ext uri="{FF2B5EF4-FFF2-40B4-BE49-F238E27FC236}">
                <a16:creationId xmlns:a16="http://schemas.microsoft.com/office/drawing/2014/main" id="{131F4768-7408-46CB-AA4F-E1C93C21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7068"/>
                </a:solidFill>
              </a:defRPr>
            </a:pPr>
            <a:r>
              <a:rPr sz="1500">
                <a:solidFill>
                  <a:srgbClr val="517068"/>
                </a:solidFill>
              </a:rPr>
              <a:t>Celery · Redis</a:t>
            </a:r>
          </a:p>
        </p:txBody>
      </p:sp>
      <p:sp>
        <p:nvSpPr>
          <p:cNvPr id="14" name="tech-right-accent-0">
            <a:extLst xmlns:a="http://schemas.openxmlformats.org/drawingml/2006/main">
              <a:ext uri="{FF2B5EF4-FFF2-40B4-BE49-F238E27FC236}">
                <a16:creationId xmlns:a16="http://schemas.microsoft.com/office/drawing/2014/main" id="{0E7D8EA3-4622-416A-B9BF-C84C2EE8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  <a:prstDash val="solid"/>
          </a:ln>
        </p:spPr>
      </p:sp>
      <p:sp>
        <p:nvSpPr>
          <p:cNvPr id="15" name="tech-right-title-0">
            <a:extLst xmlns:a="http://schemas.openxmlformats.org/drawingml/2006/main">
              <a:ext uri="{FF2B5EF4-FFF2-40B4-BE49-F238E27FC236}">
                <a16:creationId xmlns:a16="http://schemas.microsoft.com/office/drawing/2014/main" id="{C1609F77-BA8A-44CD-BB68-6DC78BB8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22"/>
                </a:solidFill>
              </a:defRPr>
            </a:pPr>
            <a:r>
              <a:rPr sz="2025" b="1">
                <a:solidFill>
                  <a:srgbClr val="0F2922"/>
                </a:solidFill>
              </a:rPr>
              <a:t>AI &amp; research</a:t>
            </a:r>
          </a:p>
        </p:txBody>
      </p:sp>
      <p:sp>
        <p:nvSpPr>
          <p:cNvPr id="16" name="tech-right-body-0">
            <a:extLst xmlns:a="http://schemas.openxmlformats.org/drawingml/2006/main">
              <a:ext uri="{FF2B5EF4-FFF2-40B4-BE49-F238E27FC236}">
                <a16:creationId xmlns:a16="http://schemas.microsoft.com/office/drawing/2014/main" id="{B3769BF3-7C96-4DA6-A9A1-C1C15213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7068"/>
                </a:solidFill>
              </a:defRPr>
            </a:pPr>
            <a:r>
              <a:rPr sz="1500">
                <a:solidFill>
                  <a:srgbClr val="517068"/>
                </a:solidFill>
              </a:rPr>
              <a:t>OpenAI GPT-4o · Agno · Tavily</a:t>
            </a:r>
          </a:p>
        </p:txBody>
      </p:sp>
      <p:sp>
        <p:nvSpPr>
          <p:cNvPr id="17" name="tech-right-accent-1">
            <a:extLst xmlns:a="http://schemas.openxmlformats.org/drawingml/2006/main">
              <a:ext uri="{FF2B5EF4-FFF2-40B4-BE49-F238E27FC236}">
                <a16:creationId xmlns:a16="http://schemas.microsoft.com/office/drawing/2014/main" id="{D8A246F9-5E88-42C4-A8AF-B083FCFF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528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D62"/>
          </a:solidFill>
          <a:ln xmlns:a="http://schemas.openxmlformats.org/drawingml/2006/main" w="0">
            <a:solidFill>
              <a:srgbClr val="EE7D62"/>
            </a:solidFill>
            <a:prstDash val="solid"/>
          </a:ln>
        </p:spPr>
      </p:sp>
      <p:sp>
        <p:nvSpPr>
          <p:cNvPr id="18" name="tech-right-title-1">
            <a:extLst xmlns:a="http://schemas.openxmlformats.org/drawingml/2006/main">
              <a:ext uri="{FF2B5EF4-FFF2-40B4-BE49-F238E27FC236}">
                <a16:creationId xmlns:a16="http://schemas.microsoft.com/office/drawing/2014/main" id="{40B40701-A51F-4CDB-8E6B-C4367C6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240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22"/>
                </a:solidFill>
              </a:defRPr>
            </a:pPr>
            <a:r>
              <a:rPr sz="2025" b="1">
                <a:solidFill>
                  <a:srgbClr val="0F2922"/>
                </a:solidFill>
              </a:rPr>
              <a:t>Knowledge layer</a:t>
            </a:r>
          </a:p>
        </p:txBody>
      </p:sp>
      <p:sp>
        <p:nvSpPr>
          <p:cNvPr id="19" name="tech-right-body-1">
            <a:extLst xmlns:a="http://schemas.openxmlformats.org/drawingml/2006/main">
              <a:ext uri="{FF2B5EF4-FFF2-40B4-BE49-F238E27FC236}">
                <a16:creationId xmlns:a16="http://schemas.microsoft.com/office/drawing/2014/main" id="{2731AF2F-8203-4FCB-BFC5-ED54652B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434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7068"/>
                </a:solidFill>
              </a:defRPr>
            </a:pPr>
            <a:r>
              <a:rPr sz="1500">
                <a:solidFill>
                  <a:srgbClr val="517068"/>
                </a:solidFill>
              </a:rPr>
              <a:t>ChromaDB · text-embedding-3-small · MCP</a:t>
            </a:r>
          </a:p>
        </p:txBody>
      </p:sp>
      <p:sp>
        <p:nvSpPr>
          <p:cNvPr id="20" name="footer-6">
            <a:extLst xmlns:a="http://schemas.openxmlformats.org/drawingml/2006/main">
              <a:ext uri="{FF2B5EF4-FFF2-40B4-BE49-F238E27FC236}">
                <a16:creationId xmlns:a16="http://schemas.microsoft.com/office/drawing/2014/main" id="{CE474AB2-D533-4F35-8153-1E8DB7B0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17068"/>
                </a:solidFill>
              </a:defRPr>
            </a:pPr>
            <a:r>
              <a:rPr sz="975">
                <a:solidFill>
                  <a:srgbClr val="517068"/>
                </a:solidFill>
              </a:rPr>
              <a:t>Ombak Nusantara  /  06</a:t>
            </a:r>
          </a:p>
        </p:txBody>
      </p:sp>
    </p:spTree>
    <p:extLst>
      <p:ext uri="{BB962C8B-B14F-4D97-AF65-F5344CB8AC3E}">
        <p14:creationId xmlns:p14="http://schemas.microsoft.com/office/powerpoint/2010/main" val="1690491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2026-07-26T14:23:39.4410000Z</dcterms:created>
  <dcterms:modified xsi:type="dcterms:W3CDTF">2026-07-26T14:23:39.4410000Z</dcterms:modified>
</coreProperties>
</file>